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Nunito"/>
      <p:regular r:id="rId10"/>
      <p:bold r:id="rId11"/>
      <p:italic r:id="rId12"/>
      <p:boldItalic r:id="rId13"/>
    </p:embeddedFont>
    <p:embeddedFont>
      <p:font typeface="Maven Pro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.fntdata"/><Relationship Id="rId10" Type="http://schemas.openxmlformats.org/officeDocument/2006/relationships/font" Target="fonts/Nunito-regular.fntdata"/><Relationship Id="rId13" Type="http://schemas.openxmlformats.org/officeDocument/2006/relationships/font" Target="fonts/Nunito-boldItalic.fntdata"/><Relationship Id="rId12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venPro-bold.fntdata"/><Relationship Id="rId14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077e213eb_0_1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077e213eb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077e213eb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a077e213eb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077e213eb_0_1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077e213eb_0_1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513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Trabajo Final QA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1631408" y="187635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Fernandez Victoria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ctrTitle"/>
          </p:nvPr>
        </p:nvSpPr>
        <p:spPr>
          <a:xfrm>
            <a:off x="-50674" y="-269149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Facebook LITE</a:t>
            </a:r>
            <a:endParaRPr/>
          </a:p>
        </p:txBody>
      </p:sp>
      <p:sp>
        <p:nvSpPr>
          <p:cNvPr id="284" name="Google Shape;284;p14"/>
          <p:cNvSpPr txBox="1"/>
          <p:nvPr/>
        </p:nvSpPr>
        <p:spPr>
          <a:xfrm>
            <a:off x="91125" y="1004675"/>
            <a:ext cx="3000000" cy="2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El objetivo de las pruebas fue verificar el </a:t>
            </a:r>
            <a:r>
              <a:rPr b="1" lang="es-419" sz="19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funcionamiento general</a:t>
            </a:r>
            <a:r>
              <a:rPr lang="es-419" sz="19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, y </a:t>
            </a:r>
            <a:r>
              <a:rPr b="1" lang="es-419" sz="19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comportamiento</a:t>
            </a:r>
            <a:r>
              <a:rPr lang="es-419" sz="19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frente a distintas acciones del usuario</a:t>
            </a:r>
            <a:endParaRPr sz="1900"/>
          </a:p>
        </p:txBody>
      </p:sp>
      <p:cxnSp>
        <p:nvCxnSpPr>
          <p:cNvPr id="285" name="Google Shape;285;p14"/>
          <p:cNvCxnSpPr>
            <a:stCxn id="284" idx="3"/>
          </p:cNvCxnSpPr>
          <p:nvPr/>
        </p:nvCxnSpPr>
        <p:spPr>
          <a:xfrm>
            <a:off x="3091125" y="2252225"/>
            <a:ext cx="669300" cy="304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" name="Google Shape;286;p14"/>
          <p:cNvSpPr txBox="1"/>
          <p:nvPr/>
        </p:nvSpPr>
        <p:spPr>
          <a:xfrm>
            <a:off x="4010050" y="2626025"/>
            <a:ext cx="20904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-Interfaces principales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-</a:t>
            </a:r>
            <a:r>
              <a:rPr lang="es-419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Mensajería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-</a:t>
            </a:r>
            <a:r>
              <a:rPr lang="es-419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Edición</a:t>
            </a:r>
            <a:r>
              <a:rPr lang="es-419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avanzada del perfil del usuario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-Feed principal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type="ctrTitle"/>
          </p:nvPr>
        </p:nvSpPr>
        <p:spPr>
          <a:xfrm>
            <a:off x="31540" y="-358861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/>
              <a:t>B</a:t>
            </a:r>
            <a:r>
              <a:rPr lang="es-419" u="sng"/>
              <a:t>ugs encontrados</a:t>
            </a:r>
            <a:endParaRPr u="sng"/>
          </a:p>
        </p:txBody>
      </p:sp>
      <p:sp>
        <p:nvSpPr>
          <p:cNvPr id="292" name="Google Shape;292;p15"/>
          <p:cNvSpPr txBox="1"/>
          <p:nvPr>
            <p:ph idx="1" type="subTitle"/>
          </p:nvPr>
        </p:nvSpPr>
        <p:spPr>
          <a:xfrm>
            <a:off x="39026" y="1241349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Durante la ejecución de los casos de prueba se detectaron 3 Bugs</a:t>
            </a:r>
            <a:endParaRPr/>
          </a:p>
        </p:txBody>
      </p:sp>
      <p:cxnSp>
        <p:nvCxnSpPr>
          <p:cNvPr id="293" name="Google Shape;293;p15"/>
          <p:cNvCxnSpPr>
            <a:stCxn id="292" idx="2"/>
          </p:cNvCxnSpPr>
          <p:nvPr/>
        </p:nvCxnSpPr>
        <p:spPr>
          <a:xfrm>
            <a:off x="2166776" y="1936749"/>
            <a:ext cx="532200" cy="403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15"/>
          <p:cNvCxnSpPr>
            <a:stCxn id="292" idx="2"/>
          </p:cNvCxnSpPr>
          <p:nvPr/>
        </p:nvCxnSpPr>
        <p:spPr>
          <a:xfrm flipH="1">
            <a:off x="1637276" y="1936749"/>
            <a:ext cx="529500" cy="403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5" name="Google Shape;295;p15"/>
          <p:cNvSpPr txBox="1"/>
          <p:nvPr>
            <p:ph idx="1" type="subTitle"/>
          </p:nvPr>
        </p:nvSpPr>
        <p:spPr>
          <a:xfrm>
            <a:off x="1021268" y="23474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1 FALLA</a:t>
            </a:r>
            <a:endParaRPr/>
          </a:p>
        </p:txBody>
      </p:sp>
      <p:sp>
        <p:nvSpPr>
          <p:cNvPr id="296" name="Google Shape;296;p15"/>
          <p:cNvSpPr txBox="1"/>
          <p:nvPr>
            <p:ph idx="1" type="subTitle"/>
          </p:nvPr>
        </p:nvSpPr>
        <p:spPr>
          <a:xfrm>
            <a:off x="2452065" y="234755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2 DEFECTOS</a:t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 rot="-5400000">
            <a:off x="1996075" y="2340250"/>
            <a:ext cx="418800" cy="1263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1021275" y="34119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Severidad MEDIA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 txBox="1"/>
          <p:nvPr>
            <p:ph type="ctrTitle"/>
          </p:nvPr>
        </p:nvSpPr>
        <p:spPr>
          <a:xfrm>
            <a:off x="31540" y="-358861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/>
              <a:t>Conclusión</a:t>
            </a:r>
            <a:endParaRPr u="sng"/>
          </a:p>
        </p:txBody>
      </p:sp>
      <p:sp>
        <p:nvSpPr>
          <p:cNvPr id="304" name="Google Shape;304;p16"/>
          <p:cNvSpPr txBox="1"/>
          <p:nvPr>
            <p:ph idx="1" type="subTitle"/>
          </p:nvPr>
        </p:nvSpPr>
        <p:spPr>
          <a:xfrm>
            <a:off x="31551" y="1054449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900"/>
              <a:t> Las pruebas realizadas sobre Facebook Lite permitieron comprobar que la aplicación cumple adecuadamente con los objetivos de una versión ligera, ofreciendo funciones esenciales. 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